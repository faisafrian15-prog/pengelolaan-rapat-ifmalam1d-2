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9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8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80CA53-D0DB-7E8F-F534-87D3BB2FF8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7BE2F-21BC-98DC-7618-EAAFD47C84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D19A2-2B2A-45E9-A760-25125FF69122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69570-34C8-5E74-F3C9-D5508F5CB1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37EA0-1180-7193-2EDE-988433056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E66C1-ED07-4F48-A0C5-9D20EC488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979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E169-31E9-6996-C91E-60AAFB638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3A44D-887C-4299-E041-060018036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35735-4238-070A-D726-864E099B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29798-0B34-4F33-F0EC-0878592F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2DA3E-5F5D-6D5C-2DED-F522612A3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2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32C1-845D-1596-5B9E-43860CCC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D44DC-97FA-BE66-E21A-CC0FC5856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defRPr>
            </a:lvl1pPr>
            <a:lvl2pPr>
              <a:defRPr sz="20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panose="020B0604020202020204" pitchFamily="34" charset="0"/>
              </a:defRPr>
            </a:lvl2pPr>
            <a:lvl3pPr>
              <a:defRPr sz="18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solidFill>
                  <a:schemeClr val="bg1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5CBDD-90B8-6E94-2F02-EDDF55D7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B4945-9B80-655D-82A6-F260E118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D6940-7EB1-599A-A3BC-9C5ABEF9B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19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3B23-F197-D11A-6B5A-41618EE98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12AD9-86B7-E21F-5B02-723797E91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1A74D-3368-8340-CC29-4FFC57D1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E13D5-5E8B-605A-F9AA-6F6C6458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AC94F-0905-03A3-B809-310FD124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29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0235-69A2-BD35-C34A-C17C25613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393B6-8ABA-26A0-13A4-08A0F5587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7EC37-923E-768C-F7AE-A5CDBD7B7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1DA7A-E2D8-E985-5C46-4FEA66AF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AEC8F-BD55-B581-B23A-D4D4F61AD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FF885-FC26-48A6-B594-24BAAE19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05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6D84-D5F8-F7FC-8219-5DB062EC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DA525-D63D-3298-5F47-7ECAE823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DA266-5FC2-7355-6D2C-AA2363AE1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83837-B9B9-4980-9767-B7A5391AF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0884E1-8356-ADDE-2326-3A5DA0ADC5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834CF-41CE-5368-9291-2E0D69739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39C8D7-CC1F-60FF-23A0-9666CFD4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3B5006-46BB-5D0A-90F7-5F0E6BCB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4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33F9-8222-E6B1-B60B-07209F1B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F537D-9E71-5B0B-4CA2-ED12E4387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722513-864D-EC6A-D685-56911523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B7081-A91B-A6CA-5205-A8221952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0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E2344-7468-A455-56C1-B75D51F28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47FBC-7123-37CF-904F-0BF464965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EAE46-1BDD-C467-ABA9-662223D2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04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ECD0-1E08-5908-CE63-2DE0EB57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D8F7A-FBD9-8FE6-39A2-610CB2CAB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027E0-90E7-C601-50B9-F6DDB3241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9F3D5-6042-A95D-43BA-D806596E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C1593-C2EB-8228-416E-87F4E746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4B150-7DFA-CB7F-B176-3BFA3F59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8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471C-EE88-60DF-6727-A08B1376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8DFAF-AD58-8538-C401-344977E10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F3F70-BE2A-480E-BED5-F672436F8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60AC8-5988-D3E6-C153-6591175C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0CDD7-FEF6-565E-963C-E01EF5FA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D6859-A4F4-37DF-7647-4D134433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2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0D3EF-564B-FC99-61F4-C158C1EB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05F3B-0993-8AC1-2894-B6ECEBE58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6E89F-F18F-907B-143D-52E6CA33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C8F5C-508A-9115-C2F5-13BB46D1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13005-8D72-7FCE-958E-32CED32A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7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36E94-CC96-ACF9-163B-FEB579FA6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4F551-B21A-D035-6002-AE039DFCB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622A7-353C-14CA-B1C8-788E7FFE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FE2C0-CC6F-2989-AAF5-E9477BC5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6B5A6-1FDA-E19F-6044-DE81D370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9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449DA-D0E3-69DD-88E7-372DBD89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FCDAC-6024-6228-C7AB-08104ECDB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F140-BB78-3DC9-E9F8-111D1582A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4BBBC-0962-4E1F-A5E9-887D489D95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C0DF-1A19-751C-F055-41F10CC57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DBEC8-842F-8161-61B4-DC60F5DDC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D868E-6B07-4450-96D1-B729FD6A3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4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unittest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8618E-BD1B-D87C-656B-CFD9F2475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344" y="1829752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Unit Testing</a:t>
            </a:r>
          </a:p>
        </p:txBody>
      </p:sp>
    </p:spTree>
    <p:extLst>
      <p:ext uri="{BB962C8B-B14F-4D97-AF65-F5344CB8AC3E}">
        <p14:creationId xmlns:p14="http://schemas.microsoft.com/office/powerpoint/2010/main" val="256038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C544-955C-72E2-0765-CBB81F05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Unit Testing?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3C246-C1DB-C16D-8A43-D4ACC5B4C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testing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pada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terkecil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(</a:t>
            </a:r>
            <a:r>
              <a:rPr lang="en-US" dirty="0" err="1"/>
              <a:t>fungsi</a:t>
            </a:r>
            <a:r>
              <a:rPr lang="en-US" dirty="0"/>
              <a:t>/</a:t>
            </a:r>
            <a:r>
              <a:rPr lang="en-US" dirty="0" err="1"/>
              <a:t>metode</a:t>
            </a:r>
            <a:r>
              <a:rPr lang="en-US" dirty="0"/>
              <a:t>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memverifikasi</a:t>
            </a:r>
            <a:r>
              <a:rPr lang="en-US" dirty="0"/>
              <a:t> </a:t>
            </a:r>
            <a:r>
              <a:rPr lang="en-US" dirty="0" err="1"/>
              <a:t>perilakunya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spesifikasi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ditentukan</a:t>
            </a:r>
            <a:r>
              <a:rPr lang="en-US" dirty="0"/>
              <a:t>.</a:t>
            </a:r>
          </a:p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“unit </a:t>
            </a:r>
            <a:r>
              <a:rPr lang="en-US" dirty="0" err="1"/>
              <a:t>kerja</a:t>
            </a:r>
            <a:r>
              <a:rPr lang="en-US" dirty="0"/>
              <a:t>” di </a:t>
            </a:r>
            <a:r>
              <a:rPr lang="en-US" dirty="0" err="1"/>
              <a:t>kode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unit testing </a:t>
            </a:r>
            <a:r>
              <a:rPr lang="en-US" dirty="0" err="1"/>
              <a:t>adalah</a:t>
            </a:r>
            <a:r>
              <a:rPr lang="en-US" dirty="0"/>
              <a:t> “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memverifikasi</a:t>
            </a:r>
            <a:r>
              <a:rPr lang="en-US" dirty="0"/>
              <a:t>” </a:t>
            </a:r>
            <a:r>
              <a:rPr lang="en-US" dirty="0" err="1"/>
              <a:t>bahwa</a:t>
            </a:r>
            <a:r>
              <a:rPr lang="en-US" dirty="0"/>
              <a:t> unit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kombinasi</a:t>
            </a:r>
            <a:r>
              <a:rPr lang="en-US" dirty="0"/>
              <a:t> input (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normal, edge case, dan error).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133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3D8C-1681-EC69-0909-C2E7A4CA8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Manfaat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E239A-0F7F-995B-2FD5-68853E03C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Deteksi</a:t>
            </a:r>
            <a:r>
              <a:rPr lang="en-US" b="1" dirty="0"/>
              <a:t> Bug Dini: </a:t>
            </a:r>
            <a:r>
              <a:rPr lang="en-US" dirty="0"/>
              <a:t>Bug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development, </a:t>
            </a:r>
            <a:r>
              <a:rPr lang="en-US" dirty="0" err="1"/>
              <a:t>bukan</a:t>
            </a:r>
            <a:r>
              <a:rPr lang="en-US" dirty="0"/>
              <a:t> di production</a:t>
            </a:r>
          </a:p>
          <a:p>
            <a:r>
              <a:rPr lang="en-US" b="1" dirty="0" err="1"/>
              <a:t>Dokumentasi</a:t>
            </a:r>
            <a:r>
              <a:rPr lang="en-US" b="1" dirty="0"/>
              <a:t> Berjalan</a:t>
            </a:r>
            <a:r>
              <a:rPr lang="en-US" dirty="0"/>
              <a:t>: Test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seharusnya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langsung</a:t>
            </a:r>
            <a:endParaRPr lang="en-US" dirty="0"/>
          </a:p>
          <a:p>
            <a:r>
              <a:rPr lang="en-US" b="1" dirty="0" err="1"/>
              <a:t>Pencegahan</a:t>
            </a:r>
            <a:r>
              <a:rPr lang="en-US" b="1" dirty="0"/>
              <a:t> </a:t>
            </a:r>
            <a:r>
              <a:rPr lang="en-US" b="1" dirty="0" err="1"/>
              <a:t>Regresi</a:t>
            </a:r>
            <a:r>
              <a:rPr lang="en-US" dirty="0"/>
              <a:t>: Kode lama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rusak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tambah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baru</a:t>
            </a:r>
            <a:endParaRPr lang="en-US" dirty="0"/>
          </a:p>
          <a:p>
            <a:r>
              <a:rPr lang="en-US" b="1" dirty="0" err="1"/>
              <a:t>Kolaborasi</a:t>
            </a:r>
            <a:r>
              <a:rPr lang="en-US" b="1" dirty="0"/>
              <a:t> Tim: </a:t>
            </a:r>
            <a:r>
              <a:rPr lang="en-US" dirty="0"/>
              <a:t>Developer lain </a:t>
            </a:r>
            <a:r>
              <a:rPr lang="en-US" dirty="0" err="1"/>
              <a:t>percaya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Anda </a:t>
            </a:r>
            <a:r>
              <a:rPr lang="en-US" dirty="0" err="1"/>
              <a:t>benar</a:t>
            </a:r>
            <a:endParaRPr lang="en-US" dirty="0"/>
          </a:p>
          <a:p>
            <a:r>
              <a:rPr lang="en-US" b="1" dirty="0"/>
              <a:t>Refactoring Aman:</a:t>
            </a:r>
            <a:r>
              <a:rPr lang="en-US" dirty="0"/>
              <a:t> Ubah </a:t>
            </a:r>
            <a:r>
              <a:rPr lang="en-US" dirty="0" err="1"/>
              <a:t>kode</a:t>
            </a:r>
            <a:r>
              <a:rPr lang="en-US" dirty="0"/>
              <a:t>, test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hijau</a:t>
            </a:r>
            <a:r>
              <a:rPr lang="en-US" dirty="0"/>
              <a:t> =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aman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37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C52F4-F2E0-48F1-D346-D3B9B058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</a:t>
            </a:r>
            <a:r>
              <a:rPr lang="en-US" dirty="0" err="1"/>
              <a:t>unittest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7E8A-395E-77E0-35AC-387E6914D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 testing </a:t>
            </a:r>
            <a:r>
              <a:rPr lang="en-US" dirty="0" err="1"/>
              <a:t>bawaan</a:t>
            </a:r>
            <a:r>
              <a:rPr lang="en-US" dirty="0"/>
              <a:t> Python (built-in)</a:t>
            </a:r>
          </a:p>
          <a:p>
            <a:r>
              <a:rPr lang="en-US" dirty="0"/>
              <a:t>Tidak </a:t>
            </a:r>
            <a:r>
              <a:rPr lang="en-US" dirty="0" err="1"/>
              <a:t>perlu</a:t>
            </a:r>
            <a:r>
              <a:rPr lang="en-US" dirty="0"/>
              <a:t> install </a:t>
            </a:r>
            <a:r>
              <a:rPr lang="en-US" dirty="0" err="1"/>
              <a:t>tambahan</a:t>
            </a:r>
            <a:endParaRPr lang="en-US" dirty="0"/>
          </a:p>
          <a:p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(</a:t>
            </a:r>
            <a:r>
              <a:rPr lang="en-US" dirty="0" err="1"/>
              <a:t>TestCase</a:t>
            </a:r>
            <a:r>
              <a:rPr lang="en-US" dirty="0"/>
              <a:t>)</a:t>
            </a:r>
          </a:p>
          <a:p>
            <a:r>
              <a:rPr lang="en-US" dirty="0"/>
              <a:t>Syntax </a:t>
            </a:r>
            <a:r>
              <a:rPr lang="en-US" dirty="0" err="1"/>
              <a:t>serupa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unittest</a:t>
            </a:r>
            <a:r>
              <a:rPr lang="en-US" dirty="0"/>
              <a:t> di Java (JUnit) dan C# (</a:t>
            </a:r>
            <a:r>
              <a:rPr lang="en-US" dirty="0" err="1"/>
              <a:t>NUnit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3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3718-F340-7A96-0169-216DE202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Struktur</a:t>
            </a:r>
            <a:r>
              <a:rPr lang="en-US" dirty="0"/>
              <a:t> Dasar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25CB4-84E9-E262-411C-DEF15CFFB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876" y="1690688"/>
            <a:ext cx="7938247" cy="4351338"/>
          </a:xfrm>
          <a:solidFill>
            <a:schemeClr val="bg2">
              <a:lumMod val="1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TestNamaFungsi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unittest.TestCase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test_kasus_1(self):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self.assertEqual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(expected, actual)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test_kasus_2(self):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self.assertTrue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(condition)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unittest.main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639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950E-2003-0E5D-51BB-C894F114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 Methods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A30D47-C4D6-41D2-D8EB-2A66CE387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163809"/>
              </p:ext>
            </p:extLst>
          </p:nvPr>
        </p:nvGraphicFramePr>
        <p:xfrm>
          <a:off x="5632233" y="1338850"/>
          <a:ext cx="5990508" cy="4988011"/>
        </p:xfrm>
        <a:graphic>
          <a:graphicData uri="http://schemas.openxmlformats.org/drawingml/2006/table">
            <a:tbl>
              <a:tblPr/>
              <a:tblGrid>
                <a:gridCol w="2572967">
                  <a:extLst>
                    <a:ext uri="{9D8B030D-6E8A-4147-A177-3AD203B41FA5}">
                      <a16:colId xmlns:a16="http://schemas.microsoft.com/office/drawing/2014/main" val="2414834486"/>
                    </a:ext>
                  </a:extLst>
                </a:gridCol>
                <a:gridCol w="2572967">
                  <a:extLst>
                    <a:ext uri="{9D8B030D-6E8A-4147-A177-3AD203B41FA5}">
                      <a16:colId xmlns:a16="http://schemas.microsoft.com/office/drawing/2014/main" val="2638104691"/>
                    </a:ext>
                  </a:extLst>
                </a:gridCol>
                <a:gridCol w="844574">
                  <a:extLst>
                    <a:ext uri="{9D8B030D-6E8A-4147-A177-3AD203B41FA5}">
                      <a16:colId xmlns:a16="http://schemas.microsoft.com/office/drawing/2014/main" val="2983851057"/>
                    </a:ext>
                  </a:extLst>
                </a:gridCol>
              </a:tblGrid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Method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Checks that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New in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885291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assertEqual(a,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a == b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-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063326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assertNotEqual(a,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a != b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-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177034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assertTrue(x)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bool(x) is True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-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699294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assertFalse(x)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bool(x) is False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-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96578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assertIs(a,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a is b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3.1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636442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assertIsNot(a,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a is not b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3.1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577681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assertIsNone(x)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x is None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3.1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373608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assertIsNotNone(x)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x is not None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3.1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452930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assertIn(a,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a in b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3.1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164981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assertNotIn(a,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a not in b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3.1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342468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assertIsInstance(a,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isinstance(a, b)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3.2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324136"/>
                  </a:ext>
                </a:extLst>
              </a:tr>
              <a:tr h="5031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assertNotIsInstance(a,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not isinstance(a, b)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3.2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768297"/>
                  </a:ext>
                </a:extLst>
              </a:tr>
              <a:tr h="3062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>
                          <a:effectLst/>
                          <a:latin typeface="Courier New" panose="02070309020205020404" pitchFamily="49" charset="0"/>
                        </a:rPr>
                        <a:t>assertIsSubclass(a, b)</a:t>
                      </a:r>
                      <a:endParaRPr lang="en-US" sz="1100" b="1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issubclass(a, b)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</a:rPr>
                        <a:t>3.14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552830"/>
                  </a:ext>
                </a:extLst>
              </a:tr>
              <a:tr h="5031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 err="1">
                          <a:effectLst/>
                          <a:latin typeface="Courier New" panose="02070309020205020404" pitchFamily="49" charset="0"/>
                        </a:rPr>
                        <a:t>assertNotIsSubclass</a:t>
                      </a:r>
                      <a:r>
                        <a:rPr lang="en-US" sz="1100" b="1" dirty="0">
                          <a:effectLst/>
                          <a:latin typeface="Courier New" panose="02070309020205020404" pitchFamily="49" charset="0"/>
                        </a:rPr>
                        <a:t>(a, b)</a:t>
                      </a:r>
                      <a:endParaRPr lang="en-US" sz="1100" b="1" dirty="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>
                          <a:effectLst/>
                          <a:latin typeface="Courier New" panose="02070309020205020404" pitchFamily="49" charset="0"/>
                        </a:rPr>
                        <a:t>not issubclass(a, b)</a:t>
                      </a:r>
                      <a:endParaRPr lang="en-US" sz="1100">
                        <a:effectLst/>
                      </a:endParaRP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effectLst/>
                        </a:rPr>
                        <a:t>3.14</a:t>
                      </a:r>
                    </a:p>
                  </a:txBody>
                  <a:tcPr marL="47712" marR="47712" marT="47712" marB="4771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68813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DA3FAA8-7F19-B3D0-3B90-725BEB576C5B}"/>
              </a:ext>
            </a:extLst>
          </p:cNvPr>
          <p:cNvSpPr txBox="1"/>
          <p:nvPr/>
        </p:nvSpPr>
        <p:spPr>
          <a:xfrm>
            <a:off x="963706" y="1690688"/>
            <a:ext cx="369794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Assert 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atau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 </a:t>
            </a:r>
            <a:r>
              <a:rPr lang="en-US" sz="2000" b="0" i="1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assertion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adalah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pernyataan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logika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di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dalam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kode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pengujian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yang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berfungsi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untuk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 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memverifikasi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 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apakah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hasil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eksekusi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program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sesuai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dengan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yang </a:t>
            </a: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diharapkan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08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81215-D504-1096-4A75-E71FF98E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err="1"/>
              <a:t>Menjalankan</a:t>
            </a:r>
            <a:r>
              <a:rPr lang="en-US" b="0" dirty="0"/>
              <a:t> Unit Tests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C0BE8-7B65-D52B-91F0-A439BF216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27024" cy="4117975"/>
          </a:xfrm>
          <a:solidFill>
            <a:schemeClr val="tx1">
              <a:lumMod val="95000"/>
              <a:lumOff val="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Cara 1: 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Jalankan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satu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 file test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test_calc.py</a:t>
            </a: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Cara 2: 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Jalankan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dengan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unittest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 discover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discover</a:t>
            </a:r>
          </a:p>
          <a:p>
            <a:pPr marL="0" indent="0">
              <a:buNone/>
            </a:pPr>
            <a:r>
              <a:rPr lang="en-US" dirty="0">
                <a:latin typeface="Helvetica" panose="020B0604020202020204" pitchFamily="34" charset="0"/>
              </a:rPr>
              <a:t>Cara </a:t>
            </a:r>
            <a:r>
              <a:rPr lang="en-US" dirty="0" err="1">
                <a:latin typeface="Helvetica" panose="020B0604020202020204" pitchFamily="34" charset="0"/>
              </a:rPr>
              <a:t>ini</a:t>
            </a:r>
            <a:r>
              <a:rPr lang="en-US" dirty="0">
                <a:latin typeface="Helvetica" panose="020B0604020202020204" pitchFamily="34" charset="0"/>
              </a:rPr>
              <a:t> </a:t>
            </a:r>
            <a:r>
              <a:rPr lang="en-US" dirty="0" err="1">
                <a:latin typeface="Helvetica" panose="020B0604020202020204" pitchFamily="34" charset="0"/>
              </a:rPr>
              <a:t>otomatis</a:t>
            </a:r>
            <a:r>
              <a:rPr lang="en-US" dirty="0">
                <a:latin typeface="Helvetica" panose="020B0604020202020204" pitchFamily="34" charset="0"/>
              </a:rPr>
              <a:t> </a:t>
            </a:r>
            <a:r>
              <a:rPr lang="en-US" dirty="0" err="1">
                <a:latin typeface="Helvetica" panose="020B0604020202020204" pitchFamily="34" charset="0"/>
              </a:rPr>
              <a:t>menemukan</a:t>
            </a:r>
            <a:r>
              <a:rPr lang="en-US" dirty="0">
                <a:latin typeface="Helvetica" panose="020B0604020202020204" pitchFamily="34" charset="0"/>
              </a:rPr>
              <a:t> </a:t>
            </a:r>
            <a:r>
              <a:rPr lang="en-US" dirty="0" err="1">
                <a:latin typeface="Helvetica" panose="020B0604020202020204" pitchFamily="34" charset="0"/>
              </a:rPr>
              <a:t>semua</a:t>
            </a:r>
            <a:r>
              <a:rPr lang="en-US" dirty="0">
                <a:latin typeface="Helvetica" panose="020B0604020202020204" pitchFamily="34" charset="0"/>
              </a:rPr>
              <a:t> file test_*.py dan </a:t>
            </a:r>
            <a:r>
              <a:rPr lang="en-US" dirty="0" err="1">
                <a:latin typeface="Helvetica" panose="020B0604020202020204" pitchFamily="34" charset="0"/>
              </a:rPr>
              <a:t>menjalankannya</a:t>
            </a:r>
            <a:r>
              <a:rPr lang="en-US" dirty="0">
                <a:latin typeface="Helvetica" panose="020B0604020202020204" pitchFamily="34" charset="0"/>
              </a:rPr>
              <a:t>.</a:t>
            </a:r>
          </a:p>
          <a:p>
            <a:endParaRPr lang="en-US" dirty="0"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Cara 3: 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Jalankan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 test </a:t>
            </a:r>
            <a:r>
              <a:rPr lang="en-US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</a:rPr>
              <a:t>spesifik</a:t>
            </a: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  <a:latin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test_calc.TestCalc.test_add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9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179B-FE0C-2CD6-8593-D96F6B37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Kode</a:t>
            </a:r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F89240AF-A1D3-6C11-B27B-F99BCDB3C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354" y="1690688"/>
            <a:ext cx="6498280" cy="442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6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F3241-7D46-B74F-A103-45D1AC73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7AF0-AD3C-0D48-04F3-ED2C24441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Unittest</a:t>
            </a:r>
            <a:endParaRPr lang="en-US" dirty="0"/>
          </a:p>
        </p:txBody>
      </p:sp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9C9853BC-E57E-BA4B-3E7A-336598B4B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383"/>
          <a:stretch>
            <a:fillRect/>
          </a:stretch>
        </p:blipFill>
        <p:spPr>
          <a:xfrm>
            <a:off x="4933162" y="777184"/>
            <a:ext cx="6420638" cy="530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40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E13D-0C19-32BE-F408-0B1DA135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Uji</a:t>
            </a:r>
          </a:p>
        </p:txBody>
      </p:sp>
      <p:pic>
        <p:nvPicPr>
          <p:cNvPr id="5" name="Picture 4" descr="A black screen with white lines&#10;&#10;AI-generated content may be incorrect.">
            <a:extLst>
              <a:ext uri="{FF2B5EF4-FFF2-40B4-BE49-F238E27FC236}">
                <a16:creationId xmlns:a16="http://schemas.microsoft.com/office/drawing/2014/main" id="{42C5010E-2177-34B8-FD0A-130A6DEB0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717" y="1777174"/>
            <a:ext cx="6795247" cy="1099671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pic>
        <p:nvPicPr>
          <p:cNvPr id="7" name="Picture 6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345AC1DF-4767-5CB5-2023-88DCCE1FD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717" y="3245478"/>
            <a:ext cx="6795247" cy="2741762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5E4050-1B5A-2B8D-817E-3C72E8C964D4}"/>
              </a:ext>
            </a:extLst>
          </p:cNvPr>
          <p:cNvCxnSpPr>
            <a:cxnSpLocks/>
          </p:cNvCxnSpPr>
          <p:nvPr/>
        </p:nvCxnSpPr>
        <p:spPr>
          <a:xfrm flipV="1">
            <a:off x="3541062" y="4616359"/>
            <a:ext cx="4760256" cy="3321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D594BA-DC35-7A0A-B567-4E778669EC1A}"/>
              </a:ext>
            </a:extLst>
          </p:cNvPr>
          <p:cNvSpPr txBox="1"/>
          <p:nvPr/>
        </p:nvSpPr>
        <p:spPr>
          <a:xfrm>
            <a:off x="8650939" y="3831529"/>
            <a:ext cx="2474259" cy="156966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Misalnya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kode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fungsi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yang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harusnya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menghitung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diskon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5% (non-member)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dari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10rb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malah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mengembalikan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nilai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4000</a:t>
            </a:r>
          </a:p>
        </p:txBody>
      </p:sp>
    </p:spTree>
    <p:extLst>
      <p:ext uri="{BB962C8B-B14F-4D97-AF65-F5344CB8AC3E}">
        <p14:creationId xmlns:p14="http://schemas.microsoft.com/office/powerpoint/2010/main" val="2845321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2BE07F-A10C-F042-20FF-AEF304A29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98136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 err="1"/>
              <a:t>Terima</a:t>
            </a:r>
            <a:r>
              <a:rPr lang="en-US" sz="4400" b="1" dirty="0"/>
              <a:t> Kasih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508FE-62B6-87AC-4F37-7FDFA4FD9524}"/>
              </a:ext>
            </a:extLst>
          </p:cNvPr>
          <p:cNvSpPr txBox="1"/>
          <p:nvPr/>
        </p:nvSpPr>
        <p:spPr>
          <a:xfrm>
            <a:off x="905436" y="47543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fkGroteskNeue"/>
                <a:hlinkClick r:id="rId2"/>
              </a:rPr>
              <a:t>https://docs.python.org/3/library/unittest.html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459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511</Words>
  <Application>Microsoft Office PowerPoint</Application>
  <PresentationFormat>Widescreen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fkGroteskNeue</vt:lpstr>
      <vt:lpstr>Helvetica</vt:lpstr>
      <vt:lpstr>Roboto</vt:lpstr>
      <vt:lpstr>Verdana</vt:lpstr>
      <vt:lpstr>Office Theme</vt:lpstr>
      <vt:lpstr>Unit Testing</vt:lpstr>
      <vt:lpstr>Apa itu Unit Testing?</vt:lpstr>
      <vt:lpstr>Manfaat</vt:lpstr>
      <vt:lpstr>Framework unittest</vt:lpstr>
      <vt:lpstr>Struktur Dasar</vt:lpstr>
      <vt:lpstr>Assertion Methods</vt:lpstr>
      <vt:lpstr>Menjalankan Unit Tests</vt:lpstr>
      <vt:lpstr>Contoh Kode</vt:lpstr>
      <vt:lpstr>Contoh Unittest</vt:lpstr>
      <vt:lpstr>Hasil Uji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Handling</dc:title>
  <dc:creator>Muhammad Idris</dc:creator>
  <cp:lastModifiedBy>Muhammad Idris</cp:lastModifiedBy>
  <cp:revision>164</cp:revision>
  <dcterms:created xsi:type="dcterms:W3CDTF">2023-10-19T15:54:46Z</dcterms:created>
  <dcterms:modified xsi:type="dcterms:W3CDTF">2025-12-20T18:11:10Z</dcterms:modified>
</cp:coreProperties>
</file>